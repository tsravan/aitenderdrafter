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B97B-61E9-238F-F70A-C2542DDF3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2F19F-99A5-7FA7-8802-50B92D4AB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4D07-A2DB-24D7-0D28-8E9EE805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28AD5-6F97-D9D4-C0B0-0BD86B6B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53F43-9DE0-95EF-B949-6D8D489F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7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247C-4645-F05E-7521-DC259D4B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184BD-5343-C8CF-4FE5-F6A47B4BD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C118-6EB2-1107-9D09-7B9820521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2969-D56D-D0A3-DC1F-9C71B22A6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80B20-5F4E-F005-F4FD-3B160633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52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EAE7-BB2D-98CE-0FA0-364F478B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A5915-917A-C8E9-2F4B-D5100545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3B0C9-68D0-AC3E-1DE1-CFF036BD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2991-354E-413C-32DB-B5DDF925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7CD95-1262-DCD8-5B51-C65F16AA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94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3458-4C8A-13B8-7BE5-1FC962E2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633D-FE97-4E4D-E83C-39704C70D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E27E3-5852-2177-B3E7-3A42FB459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1F38B-3286-D088-8105-F385C36E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06F8C-7CFE-E8F5-1E08-C99BE30F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5C50F-841B-6250-027E-AE071515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8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2F0E-776A-14F5-228B-467EA34E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7B27F-F3DD-AF6F-BF8C-F52108731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89200-7DDF-B394-9F86-786A4EF90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91422-D549-D539-D91B-27E1E0DFB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180C4-DDAA-83B9-DB0E-4A9499C71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47983-D278-A8CB-0995-E0273018E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F5840-B63D-B4C5-DEF0-1FF9573E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71714-20EF-C795-6FFC-49DF3B16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69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84D4-BD54-5298-E553-6851932B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C4933-188C-0BF6-A113-A5DBCABB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0757B-99E2-14F0-DD39-C1970DB9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2A67C-5D6A-EEF4-AB21-F3FED76B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E3129-97F4-4BCB-D388-3E9121E0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7D34C-A6A1-D681-FA12-3863490A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B24B8-CFFE-AC94-DB5A-40D901E6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40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3E95-00A7-522B-F4ED-CC8227AF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9C99-17DD-5D79-923F-D8C972B5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0A1FC-925C-73C7-2222-90729E39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2F359-70A9-E689-D238-0EA978AD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A8789-D530-D702-A62F-C993CD2F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D1CE-0A44-8086-7EF9-56F9A990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77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5C59-219F-4236-28A9-D1A73089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149394-0977-FE9D-CAEF-F92F7388C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9834D-10F8-BAF8-7709-79913567C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13570-C66B-82E5-E81A-3F2B7396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850E4-7BDD-10AE-3EF0-8494032A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A93C2-F2D4-981D-6E4E-56779A8F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2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C9BF-9B2C-56B0-3C01-9F7E19BD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CC987-ED7C-8B88-5FFB-683629B9F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EB5A7-A25B-EB18-81E4-2132C654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9FC49-FB9A-9B94-DDEC-B4D0B13E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52D52-F9EB-EC56-DA80-55DD9A10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00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13765-8C9A-7057-699A-84D2791D0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76397-FF1E-3794-0211-764B159B4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2822-F365-981E-FC27-552ECC71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BFE49-F952-CCC9-EA30-AF3D58E5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F0EF2-526F-A186-360B-0B69214D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50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07E73-C929-53C6-A872-5F59EF4F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2F3FB-7B2D-E56E-36DC-6B42334AC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AD414-4E45-1A9C-F2DD-D0B337BAA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88FA2-D685-40D4-8FD7-7604FF7A13D2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88F8B-01E9-078E-EE45-4C3128EA5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87466-A9E6-F761-6984-01B6909E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6E816-64B5-4CC1-876A-805AC5025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00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15118-D08F-FB12-6CAE-F8306D09F709}"/>
              </a:ext>
            </a:extLst>
          </p:cNvPr>
          <p:cNvSpPr txBox="1"/>
          <p:nvPr/>
        </p:nvSpPr>
        <p:spPr>
          <a:xfrm>
            <a:off x="369455" y="748145"/>
            <a:ext cx="1029198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800" b="1" i="0" u="none" strike="noStrike" baseline="0" dirty="0"/>
              <a:t>Challenge Description</a:t>
            </a:r>
            <a:endParaRPr lang="en-IN" sz="1800" b="1" i="0" u="none" strike="noStrike" baseline="0" dirty="0">
              <a:latin typeface="ProximaNova-Bold"/>
            </a:endParaRPr>
          </a:p>
          <a:p>
            <a:pPr algn="l"/>
            <a:r>
              <a:rPr lang="en-US" sz="1400" b="0" i="0" u="none" strike="noStrike" baseline="0" dirty="0"/>
              <a:t>Ensure that the POC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Read and understand the context and requirements of new tender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When prompted by a user with a question that appears within a new tender request,</a:t>
            </a:r>
          </a:p>
          <a:p>
            <a:pPr algn="l"/>
            <a:r>
              <a:rPr lang="en-US" sz="1400" b="0" i="0" u="none" strike="noStrike" baseline="0" dirty="0"/>
              <a:t>                   the POC should retrieve and adapt relevant answers from a repository of past tender </a:t>
            </a:r>
            <a:r>
              <a:rPr lang="en-IN" sz="1400" b="0" i="0" u="none" strike="noStrike" baseline="0" dirty="0"/>
              <a:t>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Generate a draft response that can be easily reviewed and refined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Incorporate a simple feedback mechanism to learn from manual adjustments made by </a:t>
            </a:r>
          </a:p>
          <a:p>
            <a:pPr lvl="1"/>
            <a:r>
              <a:rPr lang="en-US" sz="1400" dirty="0"/>
              <a:t>        </a:t>
            </a:r>
            <a:r>
              <a:rPr lang="en-US" sz="1400" b="0" i="0" u="none" strike="noStrike" baseline="0" dirty="0"/>
              <a:t>the sales team to improve its performance over time</a:t>
            </a:r>
          </a:p>
          <a:p>
            <a:pPr algn="l"/>
            <a:r>
              <a:rPr lang="en-US" sz="1400" b="0" i="0" u="none" strike="noStrike" baseline="0" dirty="0"/>
              <a:t>The solution should be able to handle large volumes of data from historic examples, be scalable, and ensure data integrity and compliance.</a:t>
            </a:r>
          </a:p>
          <a:p>
            <a:pPr algn="l"/>
            <a:endParaRPr lang="en-US" sz="1400" b="0" i="0" u="none" strike="noStrike" baseline="0" dirty="0"/>
          </a:p>
          <a:p>
            <a:pPr algn="l"/>
            <a:endParaRPr lang="en-US" sz="1400" b="0" i="0" u="none" strike="noStrike" baseline="0" dirty="0"/>
          </a:p>
          <a:p>
            <a:pPr algn="l"/>
            <a:r>
              <a:rPr lang="en-IN" b="1" dirty="0"/>
              <a:t>To Do</a:t>
            </a:r>
          </a:p>
          <a:p>
            <a:pPr algn="l"/>
            <a:r>
              <a:rPr lang="en-US" sz="1400" b="0" i="0" u="none" strike="noStrike" baseline="0" dirty="0"/>
              <a:t>Provide a high-level solution design for a tender generation POC which includes:</a:t>
            </a:r>
          </a:p>
          <a:p>
            <a:pPr algn="l"/>
            <a:r>
              <a:rPr lang="en-US" sz="1400" b="0" i="0" u="none" strike="noStrike" baseline="0" dirty="0"/>
              <a:t>1. </a:t>
            </a:r>
            <a:r>
              <a:rPr lang="en-US" sz="1400" b="1" i="0" u="none" strike="noStrike" baseline="0" dirty="0"/>
              <a:t>Architecture</a:t>
            </a:r>
            <a:r>
              <a:rPr lang="en-US" sz="1400" b="0" i="0" u="none" strike="noStrike" baseline="0" dirty="0"/>
              <a:t>: Draft a high-level architecture diagram showing the key components,</a:t>
            </a:r>
          </a:p>
          <a:p>
            <a:pPr algn="l"/>
            <a:r>
              <a:rPr lang="en-US" sz="1400" b="0" i="0" u="none" strike="noStrike" baseline="0" dirty="0"/>
              <a:t>data storage and the feedback loop.</a:t>
            </a:r>
          </a:p>
          <a:p>
            <a:pPr algn="l"/>
            <a:r>
              <a:rPr lang="en-US" sz="1400" b="0" i="0" u="none" strike="noStrike" baseline="0" dirty="0"/>
              <a:t>2. </a:t>
            </a:r>
            <a:r>
              <a:rPr lang="en-US" sz="1400" b="1" i="0" u="none" strike="noStrike" baseline="0" dirty="0"/>
              <a:t>Process</a:t>
            </a:r>
            <a:r>
              <a:rPr lang="en-US" sz="1400" b="0" i="0" u="none" strike="noStrike" baseline="0" dirty="0"/>
              <a:t>: Outline a simplified process flow for the POC, detailing the steps from tender</a:t>
            </a:r>
          </a:p>
          <a:p>
            <a:pPr algn="l"/>
            <a:r>
              <a:rPr lang="en-US" sz="1400" b="0" i="0" u="none" strike="noStrike" baseline="0" dirty="0"/>
              <a:t>receipt to draft generation and the AI’s role in it.</a:t>
            </a:r>
          </a:p>
          <a:p>
            <a:pPr algn="l"/>
            <a:r>
              <a:rPr lang="en-US" sz="1400" b="0" i="0" u="none" strike="noStrike" baseline="0" dirty="0"/>
              <a:t>3. </a:t>
            </a:r>
            <a:r>
              <a:rPr lang="en-US" sz="1400" b="1" i="0" u="none" strike="noStrike" baseline="0" dirty="0"/>
              <a:t>Challenges: </a:t>
            </a:r>
            <a:r>
              <a:rPr lang="en-US" sz="1400" b="0" i="0" u="none" strike="noStrike" baseline="0" dirty="0"/>
              <a:t>Outline the key areas of potential complexity that would have to be</a:t>
            </a:r>
          </a:p>
          <a:p>
            <a:pPr algn="l"/>
            <a:r>
              <a:rPr lang="en-US" sz="1400" b="0" i="0" u="none" strike="noStrike" baseline="0" dirty="0"/>
              <a:t>considered and overcome when developing the POC and potential experiments you</a:t>
            </a:r>
          </a:p>
          <a:p>
            <a:pPr algn="l"/>
            <a:r>
              <a:rPr lang="en-US" sz="1400" b="0" i="0" u="none" strike="noStrike" baseline="0" dirty="0"/>
              <a:t>might create to test the concept's viability before starting development.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317FB-7A10-4701-BBB7-707A58E3665C}"/>
              </a:ext>
            </a:extLst>
          </p:cNvPr>
          <p:cNvSpPr txBox="1"/>
          <p:nvPr/>
        </p:nvSpPr>
        <p:spPr>
          <a:xfrm>
            <a:off x="352719" y="235208"/>
            <a:ext cx="6650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Automating and Optimizing Tender Response Process using AI - POC</a:t>
            </a:r>
            <a:endParaRPr lang="en-IN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C1C94-05FB-3E79-3CE8-CC6FEC3DDA61}"/>
              </a:ext>
            </a:extLst>
          </p:cNvPr>
          <p:cNvCxnSpPr/>
          <p:nvPr/>
        </p:nvCxnSpPr>
        <p:spPr>
          <a:xfrm>
            <a:off x="443345" y="604540"/>
            <a:ext cx="10363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464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B0009-80DF-7919-836C-236511567D96}"/>
              </a:ext>
            </a:extLst>
          </p:cNvPr>
          <p:cNvSpPr txBox="1"/>
          <p:nvPr/>
        </p:nvSpPr>
        <p:spPr>
          <a:xfrm>
            <a:off x="767171" y="759876"/>
            <a:ext cx="10160362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Initial Thoughts: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For reading the documents should AI given free hand in writing and executing code? Or</a:t>
            </a:r>
          </a:p>
          <a:p>
            <a:r>
              <a:rPr lang="en-IN" sz="1400" dirty="0"/>
              <a:t>       reduce the scope by registering predefined functions to AI Agents?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What AI framework can be used, </a:t>
            </a:r>
            <a:r>
              <a:rPr lang="en-IN" sz="1400" dirty="0" err="1"/>
              <a:t>Langchain</a:t>
            </a:r>
            <a:r>
              <a:rPr lang="en-IN" sz="1400" dirty="0"/>
              <a:t>, </a:t>
            </a:r>
            <a:r>
              <a:rPr lang="en-IN" sz="1400" dirty="0" err="1"/>
              <a:t>Autogen</a:t>
            </a:r>
            <a:r>
              <a:rPr lang="en-IN" sz="1400" dirty="0"/>
              <a:t>, </a:t>
            </a:r>
            <a:r>
              <a:rPr lang="en-IN" sz="1400" dirty="0" err="1"/>
              <a:t>CrewAI</a:t>
            </a:r>
            <a:r>
              <a:rPr lang="en-IN" sz="1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What LLMs to be used open source or OpenAI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Prompting: Zero shot or Few 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Guardrails to be used to reduce hallucinations and response in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Database: Vector Database, MongoDB or blob/storage bucket?</a:t>
            </a:r>
          </a:p>
          <a:p>
            <a:r>
              <a:rPr lang="en-IN" sz="1400" dirty="0"/>
              <a:t>              Vector Database – Data is chunked and stored, can be used to retrieve information in chunks, Tender document structure</a:t>
            </a:r>
          </a:p>
          <a:p>
            <a:r>
              <a:rPr lang="en-IN" sz="1400" dirty="0"/>
              <a:t>       		  might be missed. Supports fast retrieval and scalable.</a:t>
            </a:r>
          </a:p>
          <a:p>
            <a:r>
              <a:rPr lang="en-IN" sz="1400" dirty="0"/>
              <a:t>              MongoDB or Blob/Storage buckets: Can store documents as files. Retrieval is not as fast as vector database but it stores entire</a:t>
            </a:r>
          </a:p>
          <a:p>
            <a:r>
              <a:rPr lang="en-IN" sz="1400" dirty="0"/>
              <a:t>                                                                               document. Tender document structure can be preserved, helps LLM in writing draft tender</a:t>
            </a:r>
          </a:p>
          <a:p>
            <a:r>
              <a:rPr lang="en-IN" sz="1400" dirty="0"/>
              <a:t>			          document similar to previous tender documents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Fine tune LLM to write tender documents in compliance with organizational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Consistency in the output structure.</a:t>
            </a:r>
          </a:p>
          <a:p>
            <a:endParaRPr lang="en-IN" dirty="0"/>
          </a:p>
          <a:p>
            <a:r>
              <a:rPr lang="en-IN" b="1" dirty="0"/>
              <a:t>Tech Selection: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AI framework </a:t>
            </a:r>
            <a:r>
              <a:rPr lang="en-IN" sz="1400" dirty="0" err="1"/>
              <a:t>Autogen</a:t>
            </a:r>
            <a:r>
              <a:rPr lang="en-IN" sz="1400" dirty="0"/>
              <a:t>, interactions between AI agents are controlled and flexible.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Python Predefined functions to reduce the scope of code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LLM – OpenAI (</a:t>
            </a:r>
            <a:r>
              <a:rPr lang="en-IN" sz="1400" dirty="0" err="1"/>
              <a:t>chatgpt</a:t>
            </a:r>
            <a:r>
              <a:rPr lang="en-IN" sz="1400" dirty="0"/>
              <a:t> 3.5 turbo), less price and fast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Database: Vector Database, MongoDB or Blob/Storage buckets.</a:t>
            </a:r>
          </a:p>
          <a:p>
            <a:endParaRPr lang="en-IN" dirty="0"/>
          </a:p>
          <a:p>
            <a:r>
              <a:rPr lang="en-IN" b="1" dirty="0"/>
              <a:t>Challenges: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Evaluation challenges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Q &amp; A evaluation strategies – Answer Relevancy, Context Relevancy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Tender Structural Evaluation – Evaluate against predefined structure, say does the draft tender document has</a:t>
            </a:r>
          </a:p>
          <a:p>
            <a:pPr lvl="1"/>
            <a:r>
              <a:rPr lang="en-IN" sz="1400" dirty="0"/>
              <a:t>                                                               From details, to details, subject line, document signature, paragraph placement.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E82EE-2551-538D-F199-2BAC1E658902}"/>
              </a:ext>
            </a:extLst>
          </p:cNvPr>
          <p:cNvSpPr txBox="1"/>
          <p:nvPr/>
        </p:nvSpPr>
        <p:spPr>
          <a:xfrm>
            <a:off x="352719" y="235208"/>
            <a:ext cx="6650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Automating and Optimizing Tender Response Process using AI - POC</a:t>
            </a:r>
            <a:endParaRPr lang="en-IN"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1365B1-0F62-8476-88DD-DA329E6D4596}"/>
              </a:ext>
            </a:extLst>
          </p:cNvPr>
          <p:cNvCxnSpPr/>
          <p:nvPr/>
        </p:nvCxnSpPr>
        <p:spPr>
          <a:xfrm>
            <a:off x="443345" y="604540"/>
            <a:ext cx="10363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601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99A5A5-EF33-90F6-750B-EDFA5434E62E}"/>
              </a:ext>
            </a:extLst>
          </p:cNvPr>
          <p:cNvSpPr/>
          <p:nvPr/>
        </p:nvSpPr>
        <p:spPr>
          <a:xfrm>
            <a:off x="805759" y="126748"/>
            <a:ext cx="4028792" cy="353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Sequential Agent Chat Architecture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912B4A-1FC4-282F-5526-ABB559100F59}"/>
              </a:ext>
            </a:extLst>
          </p:cNvPr>
          <p:cNvSpPr/>
          <p:nvPr/>
        </p:nvSpPr>
        <p:spPr>
          <a:xfrm>
            <a:off x="6951560" y="134300"/>
            <a:ext cx="4028792" cy="353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Sequential Agent Chat Architecture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72E49E-A710-646B-2B19-B3BEA2547196}"/>
              </a:ext>
            </a:extLst>
          </p:cNvPr>
          <p:cNvCxnSpPr/>
          <p:nvPr/>
        </p:nvCxnSpPr>
        <p:spPr>
          <a:xfrm>
            <a:off x="5939073" y="407406"/>
            <a:ext cx="0" cy="61201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3AC1CAF-8391-9D92-0E2C-61E1ABD3F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45" y="407407"/>
            <a:ext cx="5103996" cy="6323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086871-6E27-1AA3-09F8-ABAD052BB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038" y="465569"/>
            <a:ext cx="5953956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9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4B9D71-F4C4-18DF-5A7F-1A538F0F915B}"/>
              </a:ext>
            </a:extLst>
          </p:cNvPr>
          <p:cNvSpPr txBox="1"/>
          <p:nvPr/>
        </p:nvSpPr>
        <p:spPr>
          <a:xfrm>
            <a:off x="110842" y="369457"/>
            <a:ext cx="339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Some Exciting Experiment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F9BA9-4F40-E773-681B-B7C79A71FF0D}"/>
              </a:ext>
            </a:extLst>
          </p:cNvPr>
          <p:cNvSpPr txBox="1"/>
          <p:nvPr/>
        </p:nvSpPr>
        <p:spPr>
          <a:xfrm>
            <a:off x="212441" y="840511"/>
            <a:ext cx="5638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V1_log.txt</a:t>
            </a:r>
            <a:r>
              <a:rPr lang="en-IN" sz="1200" dirty="0"/>
              <a:t> – AI agent was able to pull relevant data, interestingly Previous Engagements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6C39E9-2447-E267-CBA0-F14FA51E9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1" y="1292878"/>
            <a:ext cx="7610764" cy="546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2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AB69FD-6A25-64A7-C6D8-CBCD55E25EA3}"/>
              </a:ext>
            </a:extLst>
          </p:cNvPr>
          <p:cNvSpPr txBox="1"/>
          <p:nvPr/>
        </p:nvSpPr>
        <p:spPr>
          <a:xfrm>
            <a:off x="147786" y="517237"/>
            <a:ext cx="21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Agents Conversation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DEF2C-412B-6055-36CF-4B8968DD6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1117602"/>
            <a:ext cx="6011193" cy="4451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62FF43-6B4C-CA4C-65D9-D578DFB2B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7485"/>
            <a:ext cx="6096629" cy="445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7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59F77-3EB7-AA24-85C1-D219ED87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0" y="904318"/>
            <a:ext cx="8298609" cy="5953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C1168-5F6D-A2BF-85ED-AEBBDDD2BDDF}"/>
              </a:ext>
            </a:extLst>
          </p:cNvPr>
          <p:cNvSpPr txBox="1"/>
          <p:nvPr/>
        </p:nvSpPr>
        <p:spPr>
          <a:xfrm>
            <a:off x="249383" y="489529"/>
            <a:ext cx="21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Agents Conversation</a:t>
            </a:r>
          </a:p>
        </p:txBody>
      </p:sp>
    </p:spTree>
    <p:extLst>
      <p:ext uri="{BB962C8B-B14F-4D97-AF65-F5344CB8AC3E}">
        <p14:creationId xmlns:p14="http://schemas.microsoft.com/office/powerpoint/2010/main" val="135992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561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ProximaNova-Bold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 T</dc:creator>
  <cp:lastModifiedBy>Sravan T</cp:lastModifiedBy>
  <cp:revision>11</cp:revision>
  <dcterms:created xsi:type="dcterms:W3CDTF">2024-06-10T21:23:23Z</dcterms:created>
  <dcterms:modified xsi:type="dcterms:W3CDTF">2024-06-11T18:10:21Z</dcterms:modified>
</cp:coreProperties>
</file>